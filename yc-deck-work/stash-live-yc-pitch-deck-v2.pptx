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4a578d7acd4cde" /><Relationship Type="http://schemas.openxmlformats.org/officeDocument/2006/relationships/extended-properties" Target="/docProps/app.xml" Id="R254dc7cd504642bf" /><Relationship Type="http://schemas.openxmlformats.org/officeDocument/2006/relationships/officeDocument" Target="/ppt/presentation.xml" Id="R84da09976db645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890f62ce634c25"/>
  </p:sldMasterIdLst>
  <p:notesMasterIdLst>
    <p:notesMasterId xmlns:r="http://schemas.openxmlformats.org/officeDocument/2006/relationships" r:id="Re9f4e0f017884f9c"/>
  </p:notesMasterIdLst>
  <p:sldIdLst>
    <p:sldId xmlns:r="http://schemas.openxmlformats.org/officeDocument/2006/relationships" id="256" r:id="Ra19cce1832514efb"/>
    <p:sldId xmlns:r="http://schemas.openxmlformats.org/officeDocument/2006/relationships" id="257" r:id="R8bf02c68f54044ef"/>
    <p:sldId xmlns:r="http://schemas.openxmlformats.org/officeDocument/2006/relationships" id="258" r:id="Rc485708f0da24003"/>
    <p:sldId xmlns:r="http://schemas.openxmlformats.org/officeDocument/2006/relationships" id="259" r:id="R3a1763ed71f04b66"/>
    <p:sldId xmlns:r="http://schemas.openxmlformats.org/officeDocument/2006/relationships" id="260" r:id="Re7af726db26d4103"/>
    <p:sldId xmlns:r="http://schemas.openxmlformats.org/officeDocument/2006/relationships" id="261" r:id="R6559b5351eea4e8e"/>
    <p:sldId xmlns:r="http://schemas.openxmlformats.org/officeDocument/2006/relationships" id="262" r:id="R299fe2d1913a43b9"/>
    <p:sldId xmlns:r="http://schemas.openxmlformats.org/officeDocument/2006/relationships" id="263" r:id="R737bd92cd6c44555"/>
    <p:sldId xmlns:r="http://schemas.openxmlformats.org/officeDocument/2006/relationships" id="264" r:id="R25a4326c02864751"/>
    <p:sldId xmlns:r="http://schemas.openxmlformats.org/officeDocument/2006/relationships" id="265" r:id="Rf00fb10787b64b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db742ca0c74c26" /><Relationship Type="http://schemas.openxmlformats.org/officeDocument/2006/relationships/slideMaster" Target="/ppt/slideMasters/slideMaster1.xml" Id="R0b890f62ce634c25" /><Relationship Type="http://schemas.openxmlformats.org/officeDocument/2006/relationships/notesMaster" Target="/ppt/notesMasters/notesMaster1.xml" Id="Re9f4e0f017884f9c" /><Relationship Type="http://schemas.openxmlformats.org/officeDocument/2006/relationships/presProps" Target="/ppt/presProps.xml" Id="R50e36dd3625047d3" /><Relationship Type="http://schemas.openxmlformats.org/officeDocument/2006/relationships/tableStyles" Target="/ppt/tableStyles.xml" Id="R2e55d53250334bae" /><Relationship Type="http://schemas.openxmlformats.org/officeDocument/2006/relationships/slide" Target="/ppt/slides/slide1.xml" Id="Ra19cce1832514efb" /><Relationship Type="http://schemas.openxmlformats.org/officeDocument/2006/relationships/slide" Target="/ppt/slides/slide2.xml" Id="R8bf02c68f54044ef" /><Relationship Type="http://schemas.openxmlformats.org/officeDocument/2006/relationships/slide" Target="/ppt/slides/slide3.xml" Id="Rc485708f0da24003" /><Relationship Type="http://schemas.openxmlformats.org/officeDocument/2006/relationships/slide" Target="/ppt/slides/slide4.xml" Id="R3a1763ed71f04b66" /><Relationship Type="http://schemas.openxmlformats.org/officeDocument/2006/relationships/slide" Target="/ppt/slides/slide5.xml" Id="Re7af726db26d4103" /><Relationship Type="http://schemas.openxmlformats.org/officeDocument/2006/relationships/slide" Target="/ppt/slides/slide6.xml" Id="R6559b5351eea4e8e" /><Relationship Type="http://schemas.openxmlformats.org/officeDocument/2006/relationships/slide" Target="/ppt/slides/slide7.xml" Id="R299fe2d1913a43b9" /><Relationship Type="http://schemas.openxmlformats.org/officeDocument/2006/relationships/slide" Target="/ppt/slides/slide8.xml" Id="R737bd92cd6c44555" /><Relationship Type="http://schemas.openxmlformats.org/officeDocument/2006/relationships/slide" Target="/ppt/slides/slide9.xml" Id="R25a4326c02864751" /><Relationship Type="http://schemas.openxmlformats.org/officeDocument/2006/relationships/slide" Target="/ppt/slides/slide10.xml" Id="Rf00fb10787b64b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e10333cd7240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3df843283a4861" /><Relationship Type="http://schemas.openxmlformats.org/officeDocument/2006/relationships/notesMaster" Target="/ppt/notesMasters/notesMaster1.xml" Id="Rbd0b1b46018741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075f241ba44a37" /><Relationship Type="http://schemas.openxmlformats.org/officeDocument/2006/relationships/notesMaster" Target="/ppt/notesMasters/notesMaster1.xml" Id="Rfb409b52e35846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1c6d1be61d4e79" /><Relationship Type="http://schemas.openxmlformats.org/officeDocument/2006/relationships/notesMaster" Target="/ppt/notesMasters/notesMaster1.xml" Id="Radbfe3115b4c45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b43807137842b2" /><Relationship Type="http://schemas.openxmlformats.org/officeDocument/2006/relationships/notesMaster" Target="/ppt/notesMasters/notesMaster1.xml" Id="R9786a2e7bdb145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f3459f733f4ee0" /><Relationship Type="http://schemas.openxmlformats.org/officeDocument/2006/relationships/notesMaster" Target="/ppt/notesMasters/notesMaster1.xml" Id="Rc18d8a52ca084d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925c102e1a4cf2" /><Relationship Type="http://schemas.openxmlformats.org/officeDocument/2006/relationships/notesMaster" Target="/ppt/notesMasters/notesMaster1.xml" Id="R9194245d127242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e525f47a0b40b8" /><Relationship Type="http://schemas.openxmlformats.org/officeDocument/2006/relationships/notesMaster" Target="/ppt/notesMasters/notesMaster1.xml" Id="R05208650ced046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fddb342cc1421d" /><Relationship Type="http://schemas.openxmlformats.org/officeDocument/2006/relationships/notesMaster" Target="/ppt/notesMasters/notesMaster1.xml" Id="Re95d03890f3148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ed90ed0145494a" /><Relationship Type="http://schemas.openxmlformats.org/officeDocument/2006/relationships/notesMaster" Target="/ppt/notesMasters/notesMaster1.xml" Id="R9837c8e9905640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ff89f7663b4047" /><Relationship Type="http://schemas.openxmlformats.org/officeDocument/2006/relationships/notesMaster" Target="/ppt/notesMasters/notesMaster1.xml" Id="R3b4a0f504a164d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bf5b00bbc748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ec1ca8ca15406e" /><Relationship Type="http://schemas.openxmlformats.org/officeDocument/2006/relationships/slideLayout" Target="/ppt/slideLayouts/slideLayout1.xml" Id="Re173da2aa4af40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73da2aa4af40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0fbef52a14b07" /><Relationship Type="http://schemas.openxmlformats.org/officeDocument/2006/relationships/notesSlide" Target="/ppt/notesSlides/notesSlide1.xml" Id="R59f23a519c4e46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7ebf48e674d2a" /><Relationship Type="http://schemas.openxmlformats.org/officeDocument/2006/relationships/notesSlide" Target="/ppt/notesSlides/notesSlide2.xml" Id="R05de7eab2a6747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c240ccfb14092" /><Relationship Type="http://schemas.openxmlformats.org/officeDocument/2006/relationships/notesSlide" Target="/ppt/notesSlides/notesSlide3.xml" Id="R4c7a5140efe94b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2aab939d5455f" /><Relationship Type="http://schemas.openxmlformats.org/officeDocument/2006/relationships/notesSlide" Target="/ppt/notesSlides/notesSlide4.xml" Id="R354c0eefb63d48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bc1439e3a4779" /><Relationship Type="http://schemas.openxmlformats.org/officeDocument/2006/relationships/notesSlide" Target="/ppt/notesSlides/notesSlide5.xml" Id="R913f37def8b648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c8d2328ac42a4" /><Relationship Type="http://schemas.openxmlformats.org/officeDocument/2006/relationships/notesSlide" Target="/ppt/notesSlides/notesSlide6.xml" Id="R4a2f629f440f4e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659f37cd24366" /><Relationship Type="http://schemas.openxmlformats.org/officeDocument/2006/relationships/notesSlide" Target="/ppt/notesSlides/notesSlide7.xml" Id="R97100e68cc1341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59af4ba04448c" /><Relationship Type="http://schemas.openxmlformats.org/officeDocument/2006/relationships/notesSlide" Target="/ppt/notesSlides/notesSlide8.xml" Id="Rf279201aa81243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1a77ec1114960" /><Relationship Type="http://schemas.openxmlformats.org/officeDocument/2006/relationships/notesSlide" Target="/ppt/notesSlides/notesSlide9.xml" Id="Rdf89e45ca71a40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fe0df82644a66" /><Relationship Type="http://schemas.openxmlformats.org/officeDocument/2006/relationships/notesSlide" Target="/ppt/notesSlides/notesSlide10.xml" Id="R407ff62027f94d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DC3CE-9527-47B1-8082-18921685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STASH LIVE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DC0DB-15C9-4C65-8905-A0583BAB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239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40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Voice-triggered proof</a:t>
            </a:r>
          </a:p>
          <a:p xmlns:a="http://schemas.openxmlformats.org/drawingml/2006/main">
            <a:r>
              <a:rPr sz="40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for sales engineers.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75666-4D13-4EA1-BC19-1A360519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Surface approved security and performance proof during live customer calls—without breaking demo 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1C825-02FD-4FE3-B138-C0679C8F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2291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B85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7A794-E524-499D-A43D-7388B9AB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ICP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EA2CF-B479-47FE-B1D5-8C815BB7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A1512"/>
                </a:solidFill>
                <a:latin typeface="Aptos"/>
                <a:ea typeface="Aptos"/>
                <a:cs typeface="Aptos"/>
              </a:rPr>
              <a:t>Mid-market B2B SaaS teams running security-heavy demos and QBRs.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71994-A6B2-4AAC-A383-8866135E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57300"/>
            <a:ext cx="2571750" cy="3619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A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A63E4-DDA2-4678-829A-FFA65800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812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700" b="1">
                <a:solidFill>
                  <a:srgbClr val="FBF9F6"/>
                </a:solidFill>
                <a:latin typeface="Aptos Display"/>
                <a:ea typeface="Aptos Display"/>
                <a:cs typeface="Aptos Display"/>
              </a:rPr>
              <a:t>SOC 2</a:t>
            </a:r>
          </a:p>
          <a:p xmlns:a="http://schemas.openxmlformats.org/drawingml/2006/main">
            <a:r>
              <a:rPr sz="2700" b="1">
                <a:solidFill>
                  <a:srgbClr val="FBF9F6"/>
                </a:solidFill>
                <a:latin typeface="Aptos Display"/>
                <a:ea typeface="Aptos Display"/>
                <a:cs typeface="Aptos Display"/>
              </a:rPr>
              <a:t>READY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E0325-F5E1-4A0F-96E3-D2837E8D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appears when</a:t>
            </a:r>
          </a:p>
          <a:p xmlns:a="http://schemas.openxmlformats.org/drawingml/2006/main">
            <a:r>
              <a:rPr sz="1350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“security” is spoken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15BED-7727-4CEC-A4D2-24EF820F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29125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approved proof  /  low interruption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6DB24-CBC1-442C-A8EE-DE391C86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STASH LIVE  /  YC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312E9-A6E7-4224-A5E6-5184EB58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900968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07D84B-C047-4474-B3AD-35F8BA4D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FF237-970C-4CA0-81B1-C8FC6EE2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A proof request breaks the presenter’s 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A17B4-05E5-45B1-B3D0-5D861AE0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425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Observed sequence to measure in pilots; numbers below are validation targets, not current claims.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D80EA-EBD1-4D7A-80B0-C9223D59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2AAD4-3C6A-4A4A-B75E-546C95A5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43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A1512"/>
                </a:solidFill>
                <a:latin typeface="Aptos"/>
                <a:ea typeface="Aptos"/>
                <a:cs typeface="Aptos"/>
              </a:rPr>
              <a:t>Prospect asks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A4995-54EF-4B59-94A8-C7FE960C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425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“What is your uptime / SOC 2 status?”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F6933-883E-4660-ACBE-82195ABA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9791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5F26B-00ED-465C-8BE1-AE9FFEF9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1FE65-CC08-4AAE-95D4-CB014B7E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575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A1512"/>
                </a:solidFill>
                <a:latin typeface="Aptos"/>
                <a:ea typeface="Aptos"/>
                <a:cs typeface="Aptos"/>
              </a:rPr>
              <a:t>Presenter switches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F2586-29BC-452F-84AF-174E2D39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575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425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Target: 20–30 seconds to find the approved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0DB31-C988-4C3C-8AC5-9DAA3D2D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9791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DFEDE-7C32-4914-9133-3D6B80F2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77A3A-DC32-4539-86D0-42E5C859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A1512"/>
                </a:solidFill>
                <a:latin typeface="Aptos"/>
                <a:ea typeface="Aptos"/>
                <a:cs typeface="Aptos"/>
              </a:rPr>
              <a:t>Attention breaks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67E69-07C6-4929-AE84-800EDA5A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719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425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Target: 2 proof interruptions per eligible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2B316-41F4-4230-A0FE-0534696D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9791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3559B-8F89-463F-90A0-DE982478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979DFE-4D43-4279-8C58-798E6A8F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863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A1512"/>
                </a:solidFill>
                <a:latin typeface="Aptos"/>
                <a:ea typeface="Aptos"/>
                <a:cs typeface="Aptos"/>
              </a:rPr>
              <a:t>Proof lands late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1932D1-8B3D-4315-ACD4-0CAAB609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863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425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Target: improve recall / objection handling—measure, don’t assume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07A931-F037-48F2-9A34-DC7CAEBD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9791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87EC6-3017-4A8C-8489-801A8834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STASH LIVE  /  YC 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4FC9C-5D9C-4723-93FE-28841ABF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688485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A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A6D3E1-4EC2-4773-8BB1-331DFFC5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3CB36-D439-45F6-97F3-A7B9456B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FBF9F6"/>
                </a:solidFill>
                <a:latin typeface="Aptos Display"/>
                <a:ea typeface="Aptos Display"/>
                <a:cs typeface="Aptos Display"/>
              </a:rPr>
              <a:t>The full demo stays. One proof point appears beside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35E26-E551-4B05-92F2-32AE83C9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BEFORE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F5B66-529E-4AA1-814A-7A053C86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095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D36AF-EB27-4974-A361-C16F7284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76625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Presenter pauses</a:t>
            </a:r>
          </a:p>
          <a:p xmlns:a="http://schemas.openxmlformats.org/drawingml/2006/main">
            <a:r>
              <a:rPr sz="210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→ searches Notion</a:t>
            </a:r>
          </a:p>
          <a:p xmlns:a="http://schemas.openxmlformats.org/drawingml/2006/main">
            <a:r>
              <a:rPr sz="210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→ shares a tab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35ABE-1A6E-4158-8A67-E9C04970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AFTER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FC3E8-F62C-4A72-BF15-7058B2AB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4095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BF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7C4E8-A04A-45B8-BC84-1F1BB656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813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6F6862"/>
                </a:solidFill>
                <a:latin typeface="Aptos"/>
                <a:ea typeface="Aptos"/>
                <a:cs typeface="Aptos"/>
              </a:rPr>
              <a:t>Presenter keeps talking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A0982-27F9-4E04-9057-DA3C1FA4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10000"/>
            <a:ext cx="2952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A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3BF3B-176C-43AF-AFA3-F0EF201D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00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025" b="1">
                <a:solidFill>
                  <a:srgbClr val="FBF9F6"/>
                </a:solidFill>
                <a:latin typeface="Aptos Display"/>
                <a:ea typeface="Aptos Display"/>
                <a:cs typeface="Aptos Display"/>
              </a:rPr>
              <a:t>99.99% uptime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E20A0-412A-4703-83BD-57FD71F8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005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approved card · transient overlay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89FE7-2AE6-4915-B743-9B585250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Voice/topic match  →  approved asset library  →  transient overlay  →  dismiss + audit trail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977D0-853A-41AE-94E7-B5C532F5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STASH LIVE  /  YC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63CEB-E268-4A69-AD07-D57DDE5D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98025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3AAD9-DF5F-474C-B052-690A4277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THE WEDGE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D99DF-6DCB-4F31-AFC8-0211D0B7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Start where proof requests are frequent, sensitive, and repeatable.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EA734-390A-48BC-8EB3-8D13436E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425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Security-heavy demos and QBRs for mid-market B2B SaaS.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CF59F-C766-4775-B93A-E54309BD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952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36B1C-A120-4AA7-BD85-36836580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MOTION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716EB-9DE0-40E8-A2D6-77AC1686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9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Technical demo</a:t>
            </a:r>
          </a:p>
          <a:p xmlns:a="http://schemas.openxmlformats.org/drawingml/2006/main">
            <a:r>
              <a:rPr sz="19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Security review</a:t>
            </a:r>
          </a:p>
          <a:p xmlns:a="http://schemas.openxmlformats.org/drawingml/2006/main">
            <a:r>
              <a:rPr sz="19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QBR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9AD11-D39D-4223-B701-1BCFAE88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57500"/>
            <a:ext cx="2952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9A4E1-A233-446A-9123-D8B9724A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3B9F5-48B1-4DDC-9DDD-8559811C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9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SOC 2</a:t>
            </a:r>
          </a:p>
          <a:p xmlns:a="http://schemas.openxmlformats.org/drawingml/2006/main">
            <a:r>
              <a:rPr sz="19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Uptime</a:t>
            </a:r>
          </a:p>
          <a:p xmlns:a="http://schemas.openxmlformats.org/drawingml/2006/main">
            <a:r>
              <a:rPr sz="19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Architecture</a:t>
            </a:r>
          </a:p>
          <a:p xmlns:a="http://schemas.openxmlformats.org/drawingml/2006/main">
            <a:r>
              <a:rPr sz="19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Compliance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A924A-BBE1-4BDB-A94C-463849F3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57500"/>
            <a:ext cx="2952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4A549-3D3F-4965-B911-C0275E21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TARGET CATEGORIES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B62AA-DC3D-494D-A33B-C395DC16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9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Dev tools</a:t>
            </a:r>
          </a:p>
          <a:p xmlns:a="http://schemas.openxmlformats.org/drawingml/2006/main">
            <a:r>
              <a:rPr sz="19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Data infrastructure</a:t>
            </a:r>
          </a:p>
          <a:p xmlns:a="http://schemas.openxmlformats.org/drawingml/2006/main">
            <a:r>
              <a:rPr sz="19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Security software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0977F-5FD0-46E9-A057-295D1ABE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Example target categories—not customer logos or current traction.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D0580-EFED-40B9-9DC4-B47C87D8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STASH LIVE  /  YC 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C8C3BF-4D89-4821-B54D-EDDA1523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12167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A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0C1AD-1B3E-4B80-ABA1-278C448F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ALTERNATIVES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D4A9C-331E-4AAF-AC07-07E81D27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FBF9F6"/>
                </a:solidFill>
                <a:latin typeface="Aptos Display"/>
                <a:ea typeface="Aptos Display"/>
                <a:cs typeface="Aptos Display"/>
              </a:rPr>
              <a:t>We are not replacing presentation. We remove the interruption around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85747-DE9D-4FF7-8AD0-00C19C90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SCREEN SHARING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BA23E-E6EB-48D2-96EF-2820F190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146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75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Rich context, but the presenter leaves the conversation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893F4-D584-4208-A711-EDCD7D27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971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4A40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07436-D6AA-40B2-A3F4-2F518EF5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TAB STASHING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D6342-23CD-4C14-A7D6-EF8B6786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290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75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Fast for the presenter, invisible and inconsistent for the audience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C852B-1B8C-4AF3-A0D7-62CC450A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971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4A40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BA167-AFB5-4A52-A3F3-C1BC57EC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AI COPILOTS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5D95E-792D-401F-800B-2023F525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4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75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Often private notes or answers—not approved visual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5C1AC-D2C1-42EC-A4D0-B6BF025E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971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4A40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B0E6F-C80B-4B1A-87D1-FE404C32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STASH LIVE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14774-C82C-40DB-8F4F-626B3BF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577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FBF9F6"/>
                </a:solidFill>
                <a:latin typeface="Aptos"/>
                <a:ea typeface="Aptos"/>
                <a:cs typeface="Aptos"/>
              </a:rPr>
              <a:t>Real-time, approved, transient proof beside the speaker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29C7D-7DD4-4387-938E-61D03768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971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4A40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2EC7C-8D64-4F09-8682-78BA4A8A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STASH LIVE  /  YC 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E1D34-225E-4201-8B21-8BE537AA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65687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E83B4-969A-4973-A0A2-479566D7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FEASIBILITY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F2F01-DF54-4204-AB87-0A437FEE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The hard product path is already crossed. Now we need usage proof.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4DE63-4BA6-4676-AD11-DE2109D6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LIVE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1D375-F979-48B7-8E5E-A03A691A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384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A1512"/>
                </a:solidFill>
                <a:latin typeface="Aptos"/>
                <a:ea typeface="Aptos"/>
                <a:cs typeface="Aptos"/>
              </a:rPr>
              <a:t>Topic matching, transcript window, cooldown and dismiss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5995A-6BBE-4C7A-A3F0-C85F8843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971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F7193-93E8-47B6-8F73-367DF675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TRUST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4A321-CBA8-4868-9DC2-767A16DA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19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A1512"/>
                </a:solidFill>
                <a:latin typeface="Aptos"/>
                <a:ea typeface="Aptos"/>
                <a:cs typeface="Aptos"/>
              </a:rPr>
              <a:t>Approved cards, drafts, privacy controls, activity audit trail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082D2-B727-4B3D-BB61-8E84A82D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71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91487-F072-4159-BE67-57BE41A5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INTEGRATION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C6B68-9586-49EC-B167-795C6137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00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A1512"/>
                </a:solidFill>
                <a:latin typeface="Aptos"/>
                <a:ea typeface="Aptos"/>
                <a:cs typeface="Aptos"/>
              </a:rPr>
              <a:t>Google Meet extension, Notion sync, rendered overlays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CE90E-9B48-4676-91F8-94BB8E78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971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44A84-ECE8-44D3-9523-24525694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We will keep technical detail in the appendix. The investor question now is repeatability.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EEDE4-542F-440B-916E-2239CB7A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STASH LIVE  /  YC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1A662-98B1-4AE2-A18A-7B53B881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135167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A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4C1467-02D3-490E-83BB-5323189C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839C3-AD5A-4B41-AA28-F5028F9E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FBF9F6"/>
                </a:solidFill>
                <a:latin typeface="Aptos Display"/>
                <a:ea typeface="Aptos Display"/>
                <a:cs typeface="Aptos Display"/>
              </a:rPr>
              <a:t>Team SaaS, priced against demo productivity and consistency.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4E737-AF84-4087-B31D-A9A21E5B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425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Initial pricing and TAM are hypotheses to test—not revenue or market claims.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67BC5-47BB-4D76-81E1-E96F2314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286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BF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6B200-FD5C-409F-BB41-FAFB74EF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PRICING HYPOTHESIS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BB314-C948-463B-BC61-586F8D84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$1.5k–$3k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5048E-67A1-46A7-93D9-E0EF588D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per team / month</a:t>
            </a:r>
          </a:p>
          <a:p xmlns:a="http://schemas.openxmlformats.org/drawingml/2006/main">
            <a:r>
              <a:rPr sz="1350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10 seats · two-week pilot 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56A17-47F6-4BC4-BFC1-83A48BC0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5143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A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D4DDA-880E-477A-B749-6EE0230A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480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BOTTOM-UP TAM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49316-F616-48BD-8AFF-2A85E1E1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9567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FBF9F6"/>
                </a:solidFill>
                <a:latin typeface="Aptos Display"/>
                <a:ea typeface="Aptos Display"/>
                <a:cs typeface="Aptos Display"/>
              </a:rPr>
              <a:t>target companies × SE seats × $/seat/month × adoption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120E1-7A0D-4B0B-8C36-EA0A72F6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291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Start with one segment and replace assumptions with sourced counts.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ECE8C-1D3D-4135-AC18-EE2C68D1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ROI hypothesis: fewer context switches + more consistent approved proof. Measure completion, recall, and SQO impact.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79FAB-EAD6-4504-9D95-44105806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STASH LIVE  /  YC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59E84-BF87-474D-8767-E06BF7F4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773331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5AA7DC-09B5-422C-BC15-E56B50F0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A82E3-D132-491E-83D6-DDF574E6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The pilot succeeds only if behavior changes.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B1C0D-64D2-4A10-836A-584EE505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905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A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2AD77-713B-4EE0-B018-5E6ED36F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8607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REPEAT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99C34-130E-4C0B-9D7C-AEE862D7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7177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A1512"/>
                </a:solidFill>
                <a:latin typeface="Aptos"/>
                <a:ea typeface="Aptos"/>
                <a:cs typeface="Aptos"/>
              </a:rPr>
              <a:t>3+ SEs at one logo use Stash in 60%+ of eligible moments across 10+ meetings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0DD94-AF6B-4597-BE28-4D8908B4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905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A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EC25B-FBFC-4F73-839D-6691BB8F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7187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TRIGGER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8C533-0194-420E-95BB-6D1B26C2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5757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A1512"/>
                </a:solidFill>
                <a:latin typeface="Aptos"/>
                <a:ea typeface="Aptos"/>
                <a:cs typeface="Aptos"/>
              </a:rPr>
              <a:t>90%+ correct card selection; false positives tracked and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8422C-113F-40E9-8C93-C192C8F1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905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A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AA6BE-BB2A-4DB3-BA4B-211430C0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5767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USER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7847E-77EB-448F-9DD8-F5F1A40E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4337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A1512"/>
                </a:solidFill>
                <a:latin typeface="Aptos"/>
                <a:ea typeface="Aptos"/>
                <a:cs typeface="Aptos"/>
              </a:rPr>
              <a:t>Presenter reports fewer searches and wants to keep the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96DDF-DCB9-4B3E-B6A9-915BF2D2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1905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A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993ED-2DC2-45FD-8B06-39275C9F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4347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WILLINGNESS TO PAY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D4F5B-E277-4ECF-957D-F0277F8E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2917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A1512"/>
                </a:solidFill>
                <a:latin typeface="Aptos"/>
                <a:ea typeface="Aptos"/>
                <a:cs typeface="Aptos"/>
              </a:rPr>
              <a:t>Two-week pilot converts to $1.5k–$3k/team/month paid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5BEA4-E611-45C5-96AA-D790B2C9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Targets are intentionally demanding; the point is to earn the next segment.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7B3FF-90C9-44A9-90B5-4469E8D5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STASH LIVE  /  YC 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9EEF1F-00A9-42C7-BF26-4F06F33E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12729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A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68D5D-4227-4506-8231-882DE998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EF251-4455-4372-9D17-0BCACFE2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FBF9F6"/>
                </a:solidFill>
                <a:latin typeface="Aptos Display"/>
                <a:ea typeface="Aptos Display"/>
                <a:cs typeface="Aptos Display"/>
              </a:rPr>
              <a:t>Trust is the product. We design for the two ways it can fail.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E223A-CAFE-4900-9731-1FAC3EA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4762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2A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41508-99DB-4CF9-8B23-25CE34C5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WRONG MOMENT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B16BD-7534-44CB-8FF6-645D011B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025" b="1">
                <a:solidFill>
                  <a:srgbClr val="FBF9F6"/>
                </a:solidFill>
                <a:latin typeface="Aptos Display"/>
                <a:ea typeface="Aptos Display"/>
                <a:cs typeface="Aptos Display"/>
              </a:rPr>
              <a:t>False positive or stale card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4C7C1-231D-48B2-84BD-FB68DDC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Mitigation: confidence thresholds, cooldowns, one-click dismiss, presenter override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93FA7-45AF-488C-B30F-0D1EC62E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9875"/>
            <a:ext cx="4762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2A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C3B8C-3403-4773-8297-6EDCEBFB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WRONG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70031-89FF-4E09-A26D-C6BBFE96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025" b="1">
                <a:solidFill>
                  <a:srgbClr val="FBF9F6"/>
                </a:solidFill>
                <a:latin typeface="Aptos Display"/>
                <a:ea typeface="Aptos Display"/>
                <a:cs typeface="Aptos Display"/>
              </a:rPr>
              <a:t>Sensitive or unapproved information appears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BD44E-4591-45B2-8EE4-2555303F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Mitigation: approved asset library, drafts, access controls, audit trail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278E3-273E-4708-9886-F156729B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F2ECE4"/>
                </a:solidFill>
                <a:latin typeface="Aptos"/>
                <a:ea typeface="Aptos"/>
                <a:cs typeface="Aptos"/>
              </a:rPr>
              <a:t>The prototype already includes cooldown, dismiss, approval, and activity-control primitives.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D7F6A-1F58-4C68-BCF8-250BC0F5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STASH LIVE  /  YC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11262-C0E7-441B-8C3F-086A373A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327070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77283-1E68-4E27-8617-2E8C0E70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THE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CB526-C947-439C-BAD7-4D7B917F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3825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Help us find the first</a:t>
            </a:r>
          </a:p>
          <a:p xmlns:a="http://schemas.openxmlformats.org/drawingml/2006/main">
            <a:r>
              <a:rPr sz="3825" b="1">
                <a:solidFill>
                  <a:srgbClr val="1A1512"/>
                </a:solidFill>
                <a:latin typeface="Aptos Display"/>
                <a:ea typeface="Aptos Display"/>
                <a:cs typeface="Aptos Display"/>
              </a:rPr>
              <a:t>10 teams that need this.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02BFA-CA92-4EBA-B038-534B7308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We are looking for introductions to Heads of Sales Engineering at mid-market SaaS companies selling security-sensitive products.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779AF-9910-40CE-A2E2-9D4FE7CB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2291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B85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70545-143D-4EFA-A769-79414E19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D1E65-6F7D-4834-8297-6EAC883F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A1512"/>
                </a:solidFill>
                <a:latin typeface="Aptos"/>
                <a:ea typeface="Aptos"/>
                <a:cs typeface="Aptos"/>
              </a:rPr>
              <a:t>Two weeks · 10 seats · success criteria agreed upfront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3D70B-C95C-4CF3-BBB0-9CB7B4AA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PAID CONVERSION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BFF7F-1194-41B9-8D3D-C04FE12F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768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A1512"/>
                </a:solidFill>
                <a:latin typeface="Aptos"/>
                <a:ea typeface="Aptos"/>
                <a:cs typeface="Aptos"/>
              </a:rPr>
              <a:t>$1.5k–$3k per team / month hypothesis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5390D-9E12-4FA9-BB63-E881C811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29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B8500"/>
                </a:solidFill>
                <a:latin typeface="Aptos Mono"/>
                <a:ea typeface="Aptos Mono"/>
                <a:cs typeface="Aptos Mono"/>
              </a:rPr>
              <a:t>STASH LIVE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EE429-AF37-40E3-97FC-E8C07E70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810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F6862"/>
                </a:solidFill>
                <a:latin typeface="Aptos"/>
                <a:ea typeface="Aptos"/>
                <a:cs typeface="Aptos"/>
              </a:rPr>
              <a:t>Proof, at the moment it matters.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C4A6B-34B2-4594-AF89-23AB91FA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STASH LIVE  /  YC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CADC1-8E0C-41DE-9632-908E2CD2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6F6862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52418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2026-08-07T12:58:36.2830000Z</dcterms:created>
  <dcterms:modified xsi:type="dcterms:W3CDTF">2026-08-07T12:58:36.2830000Z</dcterms:modified>
</coreProperties>
</file>